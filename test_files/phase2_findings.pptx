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188720"/>
          </a:xfrm>
          <a:prstGeom prst="rect">
            <a:avLst/>
          </a:prstGeom>
          <a:solidFill>
            <a:srgbClr val="2E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CCEE"/>
                </a:solidFill>
              </a:rPr>
              <a:t>DemoAnalytics Research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NovaSkinX Skincare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C8DCF0"/>
                </a:solidFill>
              </a:rPr>
              <a:t>Phase 2 Findings — Consumer Segmentation &amp; 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Demo Region, July 2023  |  Confidential — For Demonstration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E080"/>
                </a:solidFill>
              </a:rPr>
              <a:t>SYNTHETIC DEMO — No real company, brand, or individual is represented. All figures are fabricated.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solidFill>
            <a:srgbClr val="2E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</a:rPr>
              <a:t>Sample &amp; Segment Sizes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27631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</a:rPr>
              <a:t>n=1,180 synthetic respondents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30552"/>
            <a:ext cx="640080" cy="640080"/>
          </a:xfrm>
          <a:prstGeom prst="rect">
            <a:avLst/>
          </a:prstGeom>
          <a:solidFill>
            <a:srgbClr val="2E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7627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</a:rPr>
              <a:t>Probable Trialist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7802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</a:rPr>
              <a:t>Who would buy NovaSkinX? Demographics &amp; habits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80944"/>
            <a:ext cx="640080" cy="640080"/>
          </a:xfrm>
          <a:prstGeom prst="rect">
            <a:avLst/>
          </a:prstGeom>
          <a:solidFill>
            <a:srgbClr val="2E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4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663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</a:rPr>
              <a:t>Skincare Spend by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28415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</a:rPr>
              <a:t>Share of wallet and monthly EUR spend (demo figures)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31335"/>
            <a:ext cx="640080" cy="640080"/>
          </a:xfrm>
          <a:prstGeom prst="rect">
            <a:avLst/>
          </a:prstGeom>
          <a:solidFill>
            <a:srgbClr val="2E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22775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77055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</a:rPr>
              <a:t>Competitive Brand Funnel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78807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</a:rPr>
              <a:t>Awareness → Consideration → Purchase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81728"/>
            <a:ext cx="640080" cy="640080"/>
          </a:xfrm>
          <a:prstGeom prst="rect">
            <a:avLst/>
          </a:prstGeom>
          <a:solidFill>
            <a:srgbClr val="2E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2744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</a:rPr>
              <a:t>Top Purchase Drivers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292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</a:rPr>
              <a:t>Need importance vs. NovaSkinX performance 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32120"/>
            <a:ext cx="640080" cy="640080"/>
          </a:xfrm>
          <a:prstGeom prst="rect">
            <a:avLst/>
          </a:prstGeom>
          <a:solidFill>
            <a:srgbClr val="2E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577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</a:rPr>
              <a:t>Barrier &amp; Driver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87959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</a:rPr>
              <a:t>Evaluation stage funnel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D5A00"/>
                </a:solidFill>
              </a:rPr>
              <a:t>SYNTHETIC DEMO — No real company, brand, or individual is represented. All figures are fabricated.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01 — Sample &amp; Segment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</a:rPr>
              <a:t>n=1,180 synthetic completes — all figures are fabricated demo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51760" cy="1325880"/>
          </a:xfrm>
          <a:prstGeom prst="rect">
            <a:avLst/>
          </a:prstGeom>
          <a:solidFill>
            <a:srgbClr val="F0F5FB"/>
          </a:solidFill>
          <a:ln w="952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3A5C"/>
                </a:solidFill>
              </a:rPr>
              <a:t>1,180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45566"/>
                </a:solidFill>
              </a:rPr>
              <a:t>Total Respondents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554480"/>
            <a:ext cx="2651760" cy="1325880"/>
          </a:xfrm>
          <a:prstGeom prst="rect">
            <a:avLst/>
          </a:prstGeom>
          <a:solidFill>
            <a:srgbClr val="F0F5FB"/>
          </a:solidFill>
          <a:ln w="9525">
            <a:solidFill>
              <a:srgbClr val="2E7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9164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DCF"/>
                </a:solidFill>
              </a:rPr>
              <a:t>247 (21%)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45566"/>
                </a:solidFill>
              </a:rPr>
              <a:t>Probable Trialists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2651760" cy="1325880"/>
          </a:xfrm>
          <a:prstGeom prst="rect">
            <a:avLst/>
          </a:prstGeom>
          <a:solidFill>
            <a:srgbClr val="F0F5FB"/>
          </a:solidFill>
          <a:ln w="9525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69164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7F8C8D"/>
                </a:solidFill>
              </a:rPr>
              <a:t>933 (79%)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28600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45566"/>
                </a:solidFill>
              </a:rPr>
              <a:t>Non-Probable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554480"/>
            <a:ext cx="2651760" cy="1325880"/>
          </a:xfrm>
          <a:prstGeom prst="rect">
            <a:avLst/>
          </a:prstGeom>
          <a:solidFill>
            <a:srgbClr val="F0F5FB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69164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7AE60"/>
                </a:solidFill>
              </a:rPr>
              <a:t>472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228600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45566"/>
                </a:solidFill>
              </a:rPr>
              <a:t>Occasional Buyers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Segment breakdown — all figures synthetic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124712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47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4472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472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% of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4472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Avg. monthly spend (EUR)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13048"/>
            <a:ext cx="112471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7705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probable_trialists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8770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247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770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21%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87705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34.7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42816"/>
            <a:ext cx="11247120" cy="402336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0682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non_probable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0682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933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0682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79%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306824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16.9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72584"/>
            <a:ext cx="112471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736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buy_regularly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736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354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36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30%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73659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36.2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02352"/>
            <a:ext cx="11247120" cy="402336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66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buy_occasionally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166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472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166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40%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1663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21.4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532120"/>
            <a:ext cx="112471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5961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try_once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59612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296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59612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5961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13.6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D5A00"/>
                </a:solidFill>
              </a:rPr>
              <a:t>SYNTHETIC DEMO — No real company, brand, or individual is represented. All figures are fabricated.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02 — Probable Trialist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</a:rPr>
              <a:t>Who would buy NovaSkinX? Synthetic demographic and behavioural characteristics (n=247)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Demographics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29967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Gender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029967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69% female vs. 61% total sample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50591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1459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Age 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14599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25-34 (33% of trialists vs. 27% total)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992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99923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50,000-74,999 EUR over-indexes (index 138)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19856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8386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Education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483864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University degree: 56% vs. 43%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04487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684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96849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Urban regions over-index (index 124)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531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Living 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45312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Urban: 65% vs. 53%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72768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Skincare Behaviour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65960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029967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Routine 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029967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5+ steps/day: 36% vs. 13% total (index 277)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50591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514599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sc_brand_awareness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514599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NovaSkinX: 39% among trialists vs. 17% 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935224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9992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sc_brand_consideration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999232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brand_b_derma: 61%, brand_c_ingredient_led: 55%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419856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48386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Purchase channel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483864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Online: 32%, drugstore_chain_a: 27%, pharmacy: 21%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04487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96849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Media — tiktok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968496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49% use TikTok weekly vs. 27% 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389120"/>
            <a:ext cx="5303520" cy="42062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45312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Media — instagram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453128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75% use Instagram weekly vs. 52% total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74920"/>
            <a:ext cx="11247120" cy="5029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1389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Key insight (synthetic): Probable trialists are digitally engaged, higher-income women aged 25-34 with multi-step routines. Heavy Instagram and TikTok users — critical for demo acquisition media strategy.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D5A00"/>
                </a:solidFill>
              </a:rPr>
              <a:t>SYNTHETIC DEMO — No real company, brand, or individual is represented. All figures are fabricated.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03 — Skincare Spend by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</a:rPr>
              <a:t>Average monthly EUR spend and share of personal care wallet — all figures are fabricated demo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Buy Regularly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709928"/>
            <a:ext cx="620649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44050" y="1737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7AE60"/>
                </a:solidFill>
              </a:rPr>
              <a:t>EUR 36.2/mo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1709928"/>
            <a:ext cx="1463040" cy="475488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17373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</a:rPr>
              <a:t>Index 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Probable Trialists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596896"/>
            <a:ext cx="5949315" cy="475488"/>
          </a:xfrm>
          <a:prstGeom prst="rect">
            <a:avLst/>
          </a:prstGeom>
          <a:solidFill>
            <a:srgbClr val="2E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6875" y="262432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EUR 34.7/mo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2596896"/>
            <a:ext cx="1463040" cy="475488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0" y="262432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</a:rPr>
              <a:t>Index 143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11296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Buy Occasionally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483864"/>
            <a:ext cx="3669029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6590" y="351129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</a:rPr>
              <a:t>EUR 21.4/mo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3483864"/>
            <a:ext cx="1463040" cy="475488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351129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</a:rPr>
              <a:t>Index 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98264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Non-Probable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370832"/>
            <a:ext cx="2897504" cy="475488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5065" y="439826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5A5A6"/>
                </a:solidFill>
              </a:rPr>
              <a:t>EUR 16.9/mo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4370832"/>
            <a:ext cx="1463040" cy="475488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439826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</a:rPr>
              <a:t>Index 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85231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Try Once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257800"/>
            <a:ext cx="233172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79" y="5285231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EUR 13.6/mo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5257800"/>
            <a:ext cx="1463040" cy="475488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5285231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</a:rPr>
              <a:t>Index 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1792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99AA"/>
                </a:solidFill>
              </a:rPr>
              <a:t>Index 100 = total sample average spend. Values above 100 = over-spending vs. average. All figures synthetic.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D5A00"/>
                </a:solidFill>
              </a:rPr>
              <a:t>SYNTHETIC DEMO — No real company, brand, or individual is represented. All figures are fabricated.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04 — Competitive Brand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</a:rPr>
              <a:t>sc_brand_awareness → sc_brand_consideration → sc_brand_purchase_p1m  |  All brands and figures are fictional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36192"/>
            <a:ext cx="251460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246887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536192"/>
            <a:ext cx="196596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55448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Awareness %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536192"/>
            <a:ext cx="196596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55448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Consideration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536192"/>
            <a:ext cx="196596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55448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Purchase P1M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536192"/>
            <a:ext cx="224028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554480"/>
            <a:ext cx="21945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Consid. Conv.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29968"/>
            <a:ext cx="11612880" cy="457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121408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brand_a_mass_market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9" y="212140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12140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76%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12140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49%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12140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84%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14600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0604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brand_b_derma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2606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606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61%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606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29%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6060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78%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99232"/>
            <a:ext cx="11612880" cy="457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090672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brand_c_ingredient_led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79" y="3090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63%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090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09067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33%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0906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90%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83864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575304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brand_d_natural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79" y="3575304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69%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575304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46%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18%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575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67%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968496"/>
            <a:ext cx="11612880" cy="45720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059935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E7DCF"/>
                </a:solidFill>
              </a:rPr>
              <a:t>NovaSkinX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79" y="4059935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DCF"/>
                </a:solidFill>
              </a:rPr>
              <a:t>19%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059935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DCF"/>
                </a:solidFill>
              </a:rPr>
              <a:t>31%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059935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DCF"/>
                </a:solidFill>
              </a:rPr>
              <a:t>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4059935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DCF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553712"/>
            <a:ext cx="11247120" cy="43891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626864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</a:rPr>
              <a:t>Insight (synthetic): NovaSkinX shows low current awareness (19%) but high consideration conversion potential among aware respondents. Awareness building is the primary simulated growth lever.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D5A00"/>
                </a:solidFill>
              </a:rPr>
              <a:t>SYNTHETIC DEMO — No real company, brand, or individual is represented. All figures are fabricated.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05 — Purchase Drivers: Need vs. NovaSkinX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</a:rPr>
              <a:t>% rating as important (need_share) vs. % rating NovaSkinX highly (novaskinx_performance_share) — synthetic figures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36192"/>
            <a:ext cx="416052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536192"/>
            <a:ext cx="1691639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554480"/>
            <a:ext cx="16459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Need %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536192"/>
            <a:ext cx="1691639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16459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NovaSkinX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536192"/>
            <a:ext cx="132588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554480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536192"/>
            <a:ext cx="1965960" cy="40233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1554480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93392"/>
            <a:ext cx="11612880" cy="457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848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no_harmful_chemicals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8483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7DCF"/>
                </a:solidFill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8483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</a:rPr>
              <a:t>−16pp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048256"/>
            <a:ext cx="1920240" cy="3383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08483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78024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56946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dermatologist_tested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56946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56946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7DCF"/>
                </a:solidFill>
              </a:rPr>
              <a:t>58%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56946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</a:rPr>
              <a:t>−24pp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2532888"/>
            <a:ext cx="1920240" cy="3383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569464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62656"/>
            <a:ext cx="11612880" cy="457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54096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fragrance_free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05409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77%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5409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7DCF"/>
                </a:solidFill>
              </a:rPr>
              <a:t>65%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5409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</a:rPr>
              <a:t>−12pp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3017520"/>
            <a:ext cx="192024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3054096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47288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3872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cruelty_free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3872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74%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53872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7DCF"/>
                </a:solidFill>
              </a:rPr>
              <a:t>79%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53872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</a:rPr>
              <a:t>+5pp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3502152"/>
            <a:ext cx="1920240" cy="338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35387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931920"/>
            <a:ext cx="11612880" cy="457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0233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sustainable_packaging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0233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69%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0233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7DCF"/>
                </a:solidFill>
              </a:rPr>
              <a:t>62%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0233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67E22"/>
                </a:solidFill>
              </a:rPr>
              <a:t>−7pp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3986784"/>
            <a:ext cx="192024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0" y="40233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16552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50799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appealing_texture_and_feel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450799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66%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50799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7DCF"/>
                </a:solidFill>
              </a:rPr>
              <a:t>72%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50799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</a:rPr>
              <a:t>+6pp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75520" y="4471416"/>
            <a:ext cx="1920240" cy="338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5520" y="450799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901184"/>
            <a:ext cx="11612880" cy="4572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99262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good_value_for_price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99262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63%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499262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7DCF"/>
                </a:solidFill>
              </a:rPr>
              <a:t>46%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99262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</a:rPr>
              <a:t>−17pp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75520" y="4956048"/>
            <a:ext cx="1920240" cy="3383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0" y="4992624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385816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477256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E1E2E"/>
                </a:solidFill>
              </a:rPr>
              <a:t>available_in_drugstore_chain_a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0" y="547725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E1E2E"/>
                </a:solidFill>
              </a:rPr>
              <a:t>60%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547725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7DCF"/>
                </a:solidFill>
              </a:rPr>
              <a:t>27%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547725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</a:rPr>
              <a:t>−33pp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5440680"/>
            <a:ext cx="1920240" cy="3383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75520" y="5477256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899AA"/>
                </a:solidFill>
              </a:rPr>
              <a:t>Gap = NovaSkinX performance minus consumer need (synthetic). Negative = unmet need. Critical = gap &gt;20pp or distribution gap.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88952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D5A00"/>
                </a:solidFill>
              </a:rPr>
              <a:t>SYNTHETIC DEMO — No real company, brand, or individual is represented. All figures are fabricated.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